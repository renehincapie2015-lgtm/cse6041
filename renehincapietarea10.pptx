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62" r:id="rId3"/>
    <p:sldId id="269" r:id="rId4"/>
    <p:sldId id="271" r:id="rId5"/>
    <p:sldId id="272" r:id="rId6"/>
    <p:sldId id="289" r:id="rId7"/>
    <p:sldId id="290" r:id="rId8"/>
    <p:sldId id="291" r:id="rId9"/>
    <p:sldId id="292" r:id="rId10"/>
    <p:sldId id="270" r:id="rId11"/>
    <p:sldId id="273" r:id="rId12"/>
    <p:sldId id="260" r:id="rId13"/>
    <p:sldId id="305" r:id="rId14"/>
    <p:sldId id="304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6" r:id="rId2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0E5C5-606F-4B86-B7E9-4FCA36F3FCE6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EB30C-75FC-4F17-ACB1-71C1DA3C955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9492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7207E-AD97-4109-9753-872D35842CCD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2608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1A0CD-0E0D-B467-E7A9-0D16739DC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6B9FA-4202-BBD8-9341-A76C4566B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5BEE09-1804-3A60-16A4-2A272A47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0BFEAC-AB0C-B441-28CB-2BA9BEB4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275748-2F6F-EDB4-150A-89506015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96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2269E-15F3-65A7-3F25-19DCAC3A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CB210D-DF35-83C3-1B90-4E18DA3C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E5B586-57E8-1A98-F606-525BA587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8555AE-BD6E-2378-2A80-5A84264B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1F28E-F741-F358-8411-4F52C9FC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2856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DDAA5-219E-9F39-A91E-9402F081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37341A-0699-4694-4F06-E2B1ACA0F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7FAA96-1E21-7195-84F2-762AED5E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181998-528D-12C8-BFA3-339006C5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D6E8E0-3170-FC5F-FA72-C8DB531D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2037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6245C-78F3-88D1-028F-8ABAC1CA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5C51D4-EDF6-26A3-C5CF-30AD074B4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6A5FE7-8ECF-2B92-D29D-13BAF1601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CC7396-9596-695F-CA11-43BE5852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94DDF6-6541-C0BA-EAD4-532793C2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1129D4-8721-9713-3660-327BBB23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0545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84E0B-CEB8-11ED-1CCA-B465CF7BB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C4E474-6007-D2F3-40F2-BCA8CE36A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43A76-F3A1-48B4-A99C-85134B101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BB5BD5-AFCB-ED66-05B1-37A4A751E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766B84-7F82-AB5D-EC66-B75B5364E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3BCA08F-EB1B-876E-06AB-C6ED075C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4278542-AFC3-4CCE-26C1-090C36D80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D2C85C-54AF-A7DD-7B7F-11626EA9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5817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52413-9673-E8B0-6F52-8FEE14AE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2C6F9FA-7E8B-1FB4-2DA5-F0D81E25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915BD3-6B99-A252-D06E-2C7E0F64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0F5A7-5F92-C055-7957-140A5AF6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7411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3B5C22E-EB1B-2EDA-DF53-95C51668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7A6B5F-B2FF-913F-4261-DDEBB426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3DE12E-DBEF-8483-6EEA-B3740954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7996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3E99F-5DDA-DE64-2826-221D7CA3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9E3515-59BC-F4C9-98DC-ED41857D0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BE14AB-DA32-0C09-D21C-B2B2644F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A100B9-D76E-8B37-762D-9AF14E92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B1611-6A36-082E-B149-F89E84B4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B8421F-8CE1-8A79-52B7-6EC608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0339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D4A28-400E-90EF-6C95-725DB1B9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EFEF4F7-8ECE-98CA-17A1-B9FD4612A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F20C16-55EB-EDF1-52F8-5624A2AC2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B8F64E-863E-9E45-5A90-AF544A13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7CC4A8-70D4-4E9D-4017-269F59B5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203507-9B12-FAE5-3C0E-8DC8D727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263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10755-AE29-F31A-3E62-2E51DEB07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D55E59-33EB-D3D4-DD0E-A4D371B3F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8825E4-B30C-9D27-985B-CE04F02F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B70F1D-ECBC-D6FD-6037-B7BC67782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33FF4D-BF8C-9F24-5F57-810B712E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7525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2483B8-8B17-52EF-9750-9410E84C3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35E359-54DC-1EDB-D8FD-C63F6AF2C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1A9443-A0E0-1628-995F-BFC74B5F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5A930E-C2D2-4962-6544-5167DA392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B97EA8-FA97-9299-6CE4-8C33A7DB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3946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F01847E-52AC-BB4A-9DE5-606DC5AA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407358-E799-8120-5756-0AEABC7F7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5953AD-7510-126C-3A74-D18A2D46E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987C9-3174-49A3-8173-5CBEACE5668E}" type="datetimeFigureOut">
              <a:rPr lang="es-EC" smtClean="0"/>
              <a:t>7/10/2025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A2EA80-71E7-5701-4458-F23D3CBAD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B29F50-ADC7-4D7A-664A-1276B930A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D636F-5811-4A2D-8024-82F977EB707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3863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BF9C008-4E5D-17DD-DE26-1FD76230B8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b="1747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E321FEF-DE3F-8447-A4DB-D0E33DC8A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2" y="982132"/>
            <a:ext cx="9601196" cy="13038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b="0" i="0" u="none" strike="noStrike" baseline="0" dirty="0"/>
              <a:t>CSE6041</a:t>
            </a:r>
            <a:br>
              <a:rPr lang="en-US" sz="2800" b="0" i="0" u="none" strike="noStrike" baseline="0" dirty="0"/>
            </a:br>
            <a:r>
              <a:rPr lang="en-US" sz="2800" b="0" i="0" u="none" strike="noStrike" baseline="0" dirty="0" err="1"/>
              <a:t>Introducción</a:t>
            </a:r>
            <a:r>
              <a:rPr lang="en-US" sz="2800" b="0" i="0" u="none" strike="noStrike" baseline="0" dirty="0"/>
              <a:t> a la </a:t>
            </a:r>
            <a:r>
              <a:rPr lang="en-US" sz="2800" b="0" i="0" u="none" strike="noStrike" baseline="0" dirty="0" err="1"/>
              <a:t>Programación</a:t>
            </a:r>
            <a:r>
              <a:rPr lang="en-US" sz="2800" b="0" i="0" u="none" strike="noStrike" baseline="0" dirty="0"/>
              <a:t> </a:t>
            </a:r>
            <a:r>
              <a:rPr lang="en-US" sz="2800" b="0" i="0" u="none" strike="noStrike" baseline="0" dirty="0" err="1"/>
              <a:t>Orientada</a:t>
            </a:r>
            <a:r>
              <a:rPr lang="en-US" sz="2800" b="0" i="0" u="none" strike="noStrike" baseline="0" dirty="0"/>
              <a:t> a </a:t>
            </a:r>
            <a:r>
              <a:rPr lang="en-US" sz="2800" b="0" i="0" u="none" strike="noStrike" baseline="0" dirty="0" err="1"/>
              <a:t>Objetos</a:t>
            </a:r>
            <a:br>
              <a:rPr lang="en-US" sz="2800" b="0" i="0" u="none" strike="noStrike" baseline="0" dirty="0"/>
            </a:br>
            <a:br>
              <a:rPr lang="en-US" sz="2800" b="0" i="0" u="none" strike="noStrike" baseline="0" dirty="0"/>
            </a:br>
            <a:r>
              <a:rPr lang="en-US" sz="2800" b="0" i="0" u="none" strike="noStrike" baseline="0" dirty="0">
                <a:solidFill>
                  <a:srgbClr val="FFFFFF"/>
                </a:solidFill>
              </a:rPr>
              <a:t> </a:t>
            </a:r>
            <a:r>
              <a:rPr lang="en-US" sz="2800" b="0" i="0" u="none" strike="noStrike" baseline="0" dirty="0">
                <a:solidFill>
                  <a:schemeClr val="tx1"/>
                </a:solidFill>
              </a:rPr>
              <a:t>Caso de Estudio:</a:t>
            </a:r>
            <a:br>
              <a:rPr lang="en-US" sz="2800" b="0" i="0" u="none" strike="noStrike" baseline="0" dirty="0">
                <a:solidFill>
                  <a:schemeClr val="tx1"/>
                </a:solidFill>
              </a:rPr>
            </a:br>
            <a:r>
              <a:rPr lang="en-US" sz="2800" b="0" i="0" u="none" strike="noStrike" baseline="0" dirty="0" err="1">
                <a:solidFill>
                  <a:schemeClr val="tx1"/>
                </a:solidFill>
              </a:rPr>
              <a:t>Diseño</a:t>
            </a:r>
            <a:r>
              <a:rPr lang="en-US" sz="2800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US" sz="2800" b="0" i="0" u="none" strike="noStrike" baseline="0" dirty="0" err="1">
                <a:solidFill>
                  <a:schemeClr val="tx1"/>
                </a:solidFill>
              </a:rPr>
              <a:t>arquitectónico</a:t>
            </a:r>
            <a:r>
              <a:rPr lang="en-US" sz="2800" b="0" i="0" u="none" strike="noStrike" baseline="0" dirty="0">
                <a:solidFill>
                  <a:schemeClr val="tx1"/>
                </a:solidFill>
              </a:rPr>
              <a:t> de </a:t>
            </a:r>
            <a:r>
              <a:rPr lang="en-US" sz="2800" b="0" i="0" u="none" strike="noStrike" baseline="0" dirty="0" err="1">
                <a:solidFill>
                  <a:schemeClr val="tx1"/>
                </a:solidFill>
              </a:rPr>
              <a:t>una</a:t>
            </a:r>
            <a:r>
              <a:rPr lang="en-US" sz="2800" b="0" i="0" u="none" strike="noStrike" baseline="0" dirty="0">
                <a:solidFill>
                  <a:schemeClr val="tx1"/>
                </a:solidFill>
              </a:rPr>
              <a:t> Plataforma e-Commerce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E7A6B8-F0C6-5C77-A699-71932EFB4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1" y="2556932"/>
            <a:ext cx="9601196" cy="331893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 Autor: </a:t>
            </a:r>
          </a:p>
          <a:p>
            <a:pPr>
              <a:buFont typeface="Arial"/>
              <a:buChar char="•"/>
            </a:pPr>
            <a:r>
              <a:rPr lang="en-US" b="1" dirty="0"/>
              <a:t>René Hincapié Mejía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 </a:t>
            </a:r>
            <a:r>
              <a:rPr lang="en-US" dirty="0" err="1"/>
              <a:t>Docente</a:t>
            </a:r>
            <a:r>
              <a:rPr lang="en-US" dirty="0"/>
              <a:t>: </a:t>
            </a:r>
          </a:p>
          <a:p>
            <a:pPr>
              <a:buFont typeface="Arial"/>
              <a:buChar char="•"/>
            </a:pPr>
            <a:r>
              <a:rPr lang="en-US" b="1" dirty="0"/>
              <a:t>Dra María Elena Gómez Martínez</a:t>
            </a:r>
          </a:p>
          <a:p>
            <a:endParaRPr lang="en-US" b="1" i="0" u="none" strike="noStrike" baseline="0" dirty="0"/>
          </a:p>
          <a:p>
            <a:pPr>
              <a:buFont typeface="Arial"/>
              <a:buChar char="•"/>
            </a:pPr>
            <a:r>
              <a:rPr lang="en-US" b="1" dirty="0" err="1"/>
              <a:t>Octubre</a:t>
            </a:r>
            <a:r>
              <a:rPr lang="en-US" b="1" dirty="0"/>
              <a:t> 2025</a:t>
            </a:r>
            <a:r>
              <a:rPr lang="en-US" b="1" i="0" u="none" strike="noStrike" baseline="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99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BCD053-D743-4119-C932-5CD29950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33" y="375284"/>
            <a:ext cx="4683321" cy="2148841"/>
          </a:xfrm>
        </p:spPr>
        <p:txBody>
          <a:bodyPr anchor="t">
            <a:normAutofit/>
          </a:bodyPr>
          <a:lstStyle/>
          <a:p>
            <a:r>
              <a:rPr lang="es-EC" b="1" i="1"/>
              <a:t>Introducción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50E0C6-6563-CEA0-A0A2-77163A8327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39"/>
          <a:stretch>
            <a:fillRect/>
          </a:stretch>
        </p:blipFill>
        <p:spPr>
          <a:xfrm>
            <a:off x="225426" y="2789584"/>
            <a:ext cx="425629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35A85978-6851-E3D7-D560-CB1668F05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2015" y="226750"/>
            <a:ext cx="7202075" cy="631751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s-EC" sz="1800" dirty="0">
                <a:ea typeface="+mn-lt"/>
                <a:cs typeface="+mn-lt"/>
              </a:rPr>
              <a:t>E</a:t>
            </a:r>
            <a:r>
              <a:rPr lang="es" sz="1800" dirty="0">
                <a:ea typeface="+mn-lt"/>
                <a:cs typeface="+mn-lt"/>
              </a:rPr>
              <a:t>ste documento incluye los diagramas utilizados, las herramientas utilizadas, las clases desarrolladas, las clases de pruebas, y los desafíos encontrados durante el desarrollo de las tareas de cada semana.</a:t>
            </a:r>
            <a:endParaRPr lang="en-US" sz="18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9161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0744E-111C-F89B-847E-B4EFB057D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C0877-8337-2749-4542-3869E34F1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9091" r="19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B5447A-0119-3E44-F069-CB3A33F22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8671" y="386638"/>
            <a:ext cx="6541273" cy="611583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C" sz="4400" b="1" dirty="0"/>
              <a:t>Objetivos Específicos</a:t>
            </a:r>
            <a:endParaRPr lang="es-EC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A3B8D6-E9C6-E0EC-45D8-89C2891E5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1115474"/>
            <a:ext cx="10548531" cy="53597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>
              <a:buFont typeface="Arial"/>
              <a:buChar char="•"/>
            </a:pPr>
            <a:r>
              <a:rPr lang="es" sz="2000" dirty="0">
                <a:latin typeface="Times New Roman"/>
                <a:cs typeface="Times New Roman"/>
              </a:rPr>
              <a:t>Aplicar los conceptos aprendidos de programación orientada a objetos, mediante de el desarrollo de una plataforma e-Commerce, usando el lenguaje Java.</a:t>
            </a:r>
            <a:endParaRPr lang="en-US" dirty="0"/>
          </a:p>
          <a:p>
            <a:pPr marL="285750" indent="-285750" algn="l">
              <a:buFont typeface="Arial"/>
              <a:buChar char="•"/>
            </a:pPr>
            <a:r>
              <a:rPr lang="es" sz="2000" dirty="0">
                <a:latin typeface="Times New Roman"/>
                <a:cs typeface="Times New Roman"/>
              </a:rPr>
              <a:t>Delinear la arquitectura de la plataforma mediante un diagrama de clases.</a:t>
            </a:r>
            <a:endParaRPr lang="es-EC" dirty="0"/>
          </a:p>
          <a:p>
            <a:pPr marL="285750" indent="-285750" algn="l">
              <a:buFont typeface="Arial"/>
              <a:buChar char="•"/>
            </a:pPr>
            <a:r>
              <a:rPr lang="es" sz="2000" dirty="0">
                <a:latin typeface="Times New Roman"/>
                <a:cs typeface="Times New Roman"/>
              </a:rPr>
              <a:t>Documentar los componentes generados para el aplicativo y las pruebas unitarias.</a:t>
            </a:r>
            <a:endParaRPr lang="es-EC" dirty="0"/>
          </a:p>
          <a:p>
            <a:pPr marL="285750" indent="-285750" algn="l">
              <a:buFont typeface="Arial"/>
              <a:buChar char="•"/>
            </a:pPr>
            <a:r>
              <a:rPr lang="es" sz="2000" dirty="0">
                <a:latin typeface="Times New Roman"/>
                <a:cs typeface="Times New Roman"/>
              </a:rPr>
              <a:t>Documentar los desafíos encontrados en la generación del diagrama de clases, los componentes y las pruebas unitarias.</a:t>
            </a:r>
            <a:endParaRPr lang="es-EC" dirty="0"/>
          </a:p>
          <a:p>
            <a:pPr marL="285750" indent="-285750" algn="l">
              <a:buFont typeface="Arial"/>
              <a:buChar char="•"/>
            </a:pPr>
            <a:r>
              <a:rPr lang="es" sz="2000" dirty="0">
                <a:latin typeface="Times New Roman"/>
                <a:cs typeface="Times New Roman"/>
              </a:rPr>
              <a:t>Documentar el uso de Github como repositorio de versionamiento de los objetos.</a:t>
            </a:r>
            <a:endParaRPr lang="es-EC" dirty="0"/>
          </a:p>
          <a:p>
            <a:pPr marL="285750" indent="-285750" algn="l">
              <a:buFont typeface="Arial"/>
              <a:buChar char="•"/>
            </a:pPr>
            <a:endParaRPr lang="es-EC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78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A536F-E7FA-F872-A56B-744B63719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00C5576-31ED-1D9E-F228-AF3F9848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4A981F-0E13-E9AB-CCA6-B7358390F7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9091" r="19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FC55204-8CCE-722A-0CAD-012115581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31A495-A7EF-6348-ADC8-C35CD402A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1571" y="700963"/>
            <a:ext cx="7246123" cy="1106883"/>
          </a:xfrm>
        </p:spPr>
        <p:txBody>
          <a:bodyPr anchor="b">
            <a:normAutofit/>
          </a:bodyPr>
          <a:lstStyle/>
          <a:p>
            <a:pPr algn="l"/>
            <a:r>
              <a:rPr lang="es-EC" sz="4400" dirty="0"/>
              <a:t>Alcance</a:t>
            </a:r>
            <a:endParaRPr lang="en-US" sz="4400" dirty="0"/>
          </a:p>
          <a:p>
            <a:pPr algn="l"/>
            <a:endParaRPr lang="es-EC" sz="32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39E870-C62D-84FB-26B2-C9ECD04E2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5" y="1344074"/>
            <a:ext cx="10548531" cy="525495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s" sz="1800" dirty="0">
              <a:ea typeface="+mn-lt"/>
              <a:cs typeface="+mn-lt"/>
            </a:endParaRPr>
          </a:p>
          <a:p>
            <a:pPr algn="l"/>
            <a:endParaRPr lang="es" sz="1800" dirty="0">
              <a:ea typeface="+mn-lt"/>
              <a:cs typeface="+mn-lt"/>
            </a:endParaRPr>
          </a:p>
          <a:p>
            <a:pPr algn="l"/>
            <a:r>
              <a:rPr lang="es" sz="1800" dirty="0">
                <a:ea typeface="+mn-lt"/>
                <a:cs typeface="+mn-lt"/>
              </a:rPr>
              <a:t>El curso Introducción a la Programación Orientada a Objetos es un paso inicial en el largo camino que propone. La multitud de conceptos y la variedad de lenguajes darían para hacer una carrera adicional. Por lo que el alcance del curso y de este documento no incluye el desarrollo de interfaces de usuario, ni en modo texto, ni en modo gráfico. La ejecución del aplicativo no tiene interacción con el usuario, y sólo sirve de evidencia de haber aplicado correctamente los conceptos aprendidos.</a:t>
            </a:r>
          </a:p>
          <a:p>
            <a:pPr marL="285750" indent="-285750" algn="l">
              <a:buFont typeface="Arial"/>
              <a:buChar char="•"/>
            </a:pPr>
            <a:r>
              <a:rPr lang="es-ES" sz="1800" dirty="0">
                <a:ea typeface="+mn-lt"/>
                <a:cs typeface="+mn-lt"/>
              </a:rPr>
              <a:t>Diagrama de Clases</a:t>
            </a:r>
            <a:r>
              <a:rPr lang="es" sz="1800" dirty="0">
                <a:ea typeface="+mn-lt"/>
                <a:cs typeface="+mn-lt"/>
              </a:rPr>
              <a:t>.</a:t>
            </a:r>
            <a:endParaRPr lang="en-US" sz="1800" dirty="0"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s-ES" sz="1800" dirty="0">
                <a:ea typeface="+mn-lt"/>
                <a:cs typeface="+mn-lt"/>
              </a:rPr>
              <a:t>Clases desarrolladas</a:t>
            </a:r>
            <a:r>
              <a:rPr lang="es" sz="1800" dirty="0">
                <a:ea typeface="+mn-lt"/>
                <a:cs typeface="+mn-lt"/>
              </a:rPr>
              <a:t>.</a:t>
            </a:r>
            <a:endParaRPr lang="es-EC" sz="1800" dirty="0"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s-ES" sz="1800" dirty="0">
                <a:ea typeface="+mn-lt"/>
                <a:cs typeface="+mn-lt"/>
              </a:rPr>
              <a:t>Clases de pruebas unitarias</a:t>
            </a:r>
            <a:r>
              <a:rPr lang="es" sz="1800" dirty="0">
                <a:ea typeface="+mn-lt"/>
                <a:cs typeface="+mn-lt"/>
              </a:rPr>
              <a:t>.</a:t>
            </a:r>
            <a:endParaRPr lang="es-EC" sz="1800" dirty="0"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s-ES" sz="1800" dirty="0">
                <a:ea typeface="+mn-lt"/>
                <a:cs typeface="+mn-lt"/>
              </a:rPr>
              <a:t>Ejecución del aplicativo </a:t>
            </a:r>
            <a:r>
              <a:rPr lang="es-ES" sz="1800" dirty="0" err="1">
                <a:ea typeface="+mn-lt"/>
                <a:cs typeface="+mn-lt"/>
              </a:rPr>
              <a:t>standalone</a:t>
            </a:r>
            <a:r>
              <a:rPr lang="es" sz="1800" dirty="0">
                <a:ea typeface="+mn-lt"/>
                <a:cs typeface="+mn-lt"/>
              </a:rPr>
              <a:t>.</a:t>
            </a:r>
            <a:endParaRPr lang="es-EC" sz="1800" dirty="0"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s-CO" sz="1800" dirty="0">
                <a:ea typeface="+mn-lt"/>
                <a:cs typeface="+mn-lt"/>
              </a:rPr>
              <a:t>Fuera de alcance: Interfaz de usuario, autenticación, base de datos, seguridad, servicios</a:t>
            </a:r>
            <a:r>
              <a:rPr lang="es" sz="1800" dirty="0">
                <a:ea typeface="+mn-lt"/>
                <a:cs typeface="+mn-lt"/>
              </a:rPr>
              <a:t>.</a:t>
            </a:r>
            <a:endParaRPr lang="es-EC" sz="1800" dirty="0">
              <a:ea typeface="+mn-lt"/>
              <a:cs typeface="+mn-lt"/>
            </a:endParaRPr>
          </a:p>
          <a:p>
            <a:pPr algn="l"/>
            <a:endParaRPr lang="es" dirty="0"/>
          </a:p>
          <a:p>
            <a:pPr algn="l"/>
            <a:endParaRPr lang="es" sz="1800" dirty="0">
              <a:latin typeface="Times New Roman"/>
              <a:cs typeface="Times New Roman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D0606D-8700-F0A5-4D8E-9C2E1C16B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64661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BDD31-0E16-BF9B-87F9-1BEA2A14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6CE5017-02D8-303D-A36C-AA8314E54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1B69B-A772-DBB3-D4EE-B3652B655D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9091" r="19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09186E4-244C-98F2-D6A7-FC447D58D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0DBB11-21C8-6231-61AA-A8C1276AD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396" y="367588"/>
            <a:ext cx="7246123" cy="1106883"/>
          </a:xfrm>
        </p:spPr>
        <p:txBody>
          <a:bodyPr anchor="b">
            <a:normAutofit/>
          </a:bodyPr>
          <a:lstStyle/>
          <a:p>
            <a:pPr algn="l"/>
            <a:r>
              <a:rPr lang="es-EC" sz="4400" dirty="0"/>
              <a:t>Diagrama de Clases</a:t>
            </a:r>
            <a:endParaRPr lang="en-US" sz="4400" dirty="0"/>
          </a:p>
          <a:p>
            <a:pPr algn="l"/>
            <a:endParaRPr lang="es-EC" sz="32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6B0EF7-F6EA-53F5-8656-29B555C12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5" y="1344074"/>
            <a:ext cx="10548531" cy="525495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s" sz="1800" dirty="0">
              <a:latin typeface="Times New Roman"/>
              <a:cs typeface="Times New Roman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D3179F-39E3-2F1D-F8B4-60DC095B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8CAB43D-A762-A7A4-2113-90E856B54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670" y="1463578"/>
            <a:ext cx="7870200" cy="501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08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3BEC1-C835-C137-45C4-413FCEC9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FCA20C-B256-1F28-D6C6-8531D1BE22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9091" r="19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6D5CEF5-EC3E-15B7-691C-37AAD15E6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396" y="367588"/>
            <a:ext cx="7246123" cy="1106883"/>
          </a:xfrm>
        </p:spPr>
        <p:txBody>
          <a:bodyPr anchor="b">
            <a:normAutofit/>
          </a:bodyPr>
          <a:lstStyle/>
          <a:p>
            <a:pPr algn="l"/>
            <a:r>
              <a:rPr lang="es-EC" sz="4400" dirty="0"/>
              <a:t>Diagrama de Clases</a:t>
            </a:r>
            <a:endParaRPr lang="en-US" sz="4400" dirty="0"/>
          </a:p>
          <a:p>
            <a:pPr algn="l"/>
            <a:endParaRPr lang="es-EC" sz="32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8B6DF1-62D6-4408-1BB6-9324BC511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5" y="1344074"/>
            <a:ext cx="10548531" cy="525495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s" sz="1800" dirty="0">
              <a:latin typeface="Times New Roman"/>
              <a:cs typeface="Times New Roman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73A67E-D310-3D94-7FBC-DDE61ED02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05" y="1402718"/>
            <a:ext cx="10040751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8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6AC6-FF6D-A81A-8283-40AC0389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D2501A-D791-2858-7188-44DCB05334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9091" r="19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A65B9C9-1D52-787D-BEDA-6D1913BC6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396" y="367588"/>
            <a:ext cx="7246123" cy="1106883"/>
          </a:xfrm>
        </p:spPr>
        <p:txBody>
          <a:bodyPr anchor="b">
            <a:normAutofit/>
          </a:bodyPr>
          <a:lstStyle/>
          <a:p>
            <a:pPr algn="l"/>
            <a:r>
              <a:rPr lang="es-EC" sz="4400" dirty="0"/>
              <a:t>Diagrama de Clases</a:t>
            </a:r>
            <a:endParaRPr lang="en-US" sz="4400" dirty="0"/>
          </a:p>
          <a:p>
            <a:pPr algn="l"/>
            <a:endParaRPr lang="es-EC" sz="32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4437F3-9E05-3176-1FC9-4D1CFDAFC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5" y="1344074"/>
            <a:ext cx="10548531" cy="525495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s" sz="1800" dirty="0">
              <a:latin typeface="Times New Roman"/>
              <a:cs typeface="Times New Roman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90F6852-7E79-5AB2-0BAC-1E089F8D0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05" y="1385150"/>
            <a:ext cx="10955279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44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6EB17-F07B-8D9F-5212-8EE433BB0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E73D87-D67B-F3E5-2A32-4E3A07B8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9091" r="19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2CD358-721B-61C5-7E13-B146BF080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396" y="367588"/>
            <a:ext cx="7246123" cy="1106883"/>
          </a:xfrm>
        </p:spPr>
        <p:txBody>
          <a:bodyPr anchor="b">
            <a:normAutofit/>
          </a:bodyPr>
          <a:lstStyle/>
          <a:p>
            <a:pPr algn="l"/>
            <a:r>
              <a:rPr lang="es-EC" sz="4400" dirty="0"/>
              <a:t>Diagrama de Clases</a:t>
            </a:r>
            <a:endParaRPr lang="en-US" sz="4400" dirty="0"/>
          </a:p>
          <a:p>
            <a:pPr algn="l"/>
            <a:endParaRPr lang="es-EC" sz="32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A974B2-0779-6564-C409-1977DB1A1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5" y="1344074"/>
            <a:ext cx="10548531" cy="525495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s" sz="1800" dirty="0">
              <a:latin typeface="Times New Roman"/>
              <a:cs typeface="Times New Roman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720478-C407-B7A9-F6F8-A12A77AEF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05" y="1223203"/>
            <a:ext cx="11145805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0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E2C0D-E371-60C4-0412-B8ECBCD0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004115-5F48-6E1A-9A0D-ED65B08DA5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9091" r="19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911FA07-8338-C569-06CB-9D3EA025A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396" y="367588"/>
            <a:ext cx="7246123" cy="1106883"/>
          </a:xfrm>
        </p:spPr>
        <p:txBody>
          <a:bodyPr anchor="b">
            <a:normAutofit/>
          </a:bodyPr>
          <a:lstStyle/>
          <a:p>
            <a:pPr algn="l"/>
            <a:r>
              <a:rPr lang="es-EC" sz="4400" dirty="0"/>
              <a:t>Diagrama de Clases</a:t>
            </a:r>
            <a:endParaRPr lang="en-US" sz="4400" dirty="0"/>
          </a:p>
          <a:p>
            <a:pPr algn="l"/>
            <a:endParaRPr lang="es-EC" sz="32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547742-05E6-689A-D15A-50E8BBCB9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5" y="1344074"/>
            <a:ext cx="10548531" cy="525495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endParaRPr lang="es" sz="1800" dirty="0">
              <a:latin typeface="Times New Roman"/>
              <a:cs typeface="Times New Roman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158BAE2-F8F1-8DB0-5A38-6DB365A38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02" y="1344074"/>
            <a:ext cx="10278909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6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46926-18F5-D33B-68EE-506BF7376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5EC6BCE-BC42-20FC-7986-32240E10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A95CD1-2A6B-ACFA-61A8-2556B68C33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9091" r="19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5202DA-57FA-15DE-F4AF-70FA97988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1F1020-F66D-F2B8-4D33-0A2922657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2200276"/>
            <a:ext cx="10548531" cy="42749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Font typeface="Arial,Sans-Serif"/>
              <a:buChar char="•"/>
            </a:pPr>
            <a:r>
              <a:rPr lang="es" dirty="0">
                <a:latin typeface="Times New Roman"/>
                <a:cs typeface="Times New Roman"/>
              </a:rPr>
              <a:t>La clase con el main se llama Ilumage, como la empresa dueña del aplicativo.</a:t>
            </a:r>
            <a:endParaRPr lang="es-EC" dirty="0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s" dirty="0">
                <a:latin typeface="Times New Roman"/>
                <a:cs typeface="Times New Roman"/>
              </a:rPr>
              <a:t>Adicionalmente, el aplicativo cuenta con las siguientes clases: Usuario, Administrador, Cliente, Artículo, Caracteristica, Categoría, FormaPago, Pedido. Y estas son abstractas con sus hijas Digital y Fisico: Carrito, Inventario, Producto, Stock. </a:t>
            </a:r>
            <a:endParaRPr lang="es-EC" dirty="0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s" dirty="0">
                <a:latin typeface="Times New Roman"/>
                <a:cs typeface="Times New Roman"/>
              </a:rPr>
              <a:t>Tenemos las Excepciones: InventarioExcedidoException, LimiteArticulosException, ProductoVacioException, StockVacioException.</a:t>
            </a:r>
            <a:endParaRPr lang="es" sz="2000" dirty="0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s" sz="2000" dirty="0">
                <a:latin typeface="Times New Roman"/>
                <a:cs typeface="Times New Roman"/>
              </a:rPr>
              <a:t>Para el patrón Singleton: </a:t>
            </a:r>
            <a:r>
              <a:rPr lang="es" dirty="0">
                <a:latin typeface="Times New Roman"/>
                <a:cs typeface="Times New Roman"/>
              </a:rPr>
              <a:t>Configuración. Para el patrón Factory: IProcesoPago, ProcesoPagoFactory, ProcesoPago, PagoCredito, PagoDebito, PagoPlataforma. Para el patrón Observer: I</a:t>
            </a:r>
            <a:r>
              <a:rPr lang="es-CO" dirty="0">
                <a:latin typeface="Times New Roman"/>
                <a:cs typeface="Times New Roman"/>
              </a:rPr>
              <a:t>o</a:t>
            </a:r>
            <a:r>
              <a:rPr lang="es" dirty="0">
                <a:latin typeface="Times New Roman"/>
                <a:cs typeface="Times New Roman"/>
              </a:rPr>
              <a:t>bservado, I</a:t>
            </a:r>
            <a:r>
              <a:rPr lang="es-CO" dirty="0">
                <a:latin typeface="Times New Roman"/>
                <a:cs typeface="Times New Roman"/>
              </a:rPr>
              <a:t>o</a:t>
            </a:r>
            <a:r>
              <a:rPr lang="es" dirty="0">
                <a:latin typeface="Times New Roman"/>
                <a:cs typeface="Times New Roman"/>
              </a:rPr>
              <a:t>bservador.</a:t>
            </a:r>
            <a:endParaRPr lang="es-EC" dirty="0">
              <a:latin typeface="Times New Roman"/>
              <a:cs typeface="Times New Roman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9DD39A-3489-4F51-2184-F8A3F744F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1571" y="700963"/>
            <a:ext cx="7246123" cy="1106883"/>
          </a:xfrm>
        </p:spPr>
        <p:txBody>
          <a:bodyPr anchor="b">
            <a:normAutofit/>
          </a:bodyPr>
          <a:lstStyle/>
          <a:p>
            <a:pPr algn="l"/>
            <a:r>
              <a:rPr lang="es-EC" sz="4400" dirty="0"/>
              <a:t>Clases desarrolladas</a:t>
            </a:r>
            <a:endParaRPr lang="en-US" sz="4400" dirty="0"/>
          </a:p>
          <a:p>
            <a:pPr algn="l"/>
            <a:endParaRPr lang="es-EC" sz="3200" b="1" dirty="0"/>
          </a:p>
        </p:txBody>
      </p:sp>
    </p:spTree>
    <p:extLst>
      <p:ext uri="{BB962C8B-B14F-4D97-AF65-F5344CB8AC3E}">
        <p14:creationId xmlns:p14="http://schemas.microsoft.com/office/powerpoint/2010/main" val="186105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65280-65C2-0D73-D7FC-D66E88A96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964C8FE-8CD6-5B7F-E86B-C654AEF9D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EC0AD-20A6-71E2-3A7F-6FE128056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" t="9091" r="1996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A0D6FC3-9D82-E9A2-208C-BC529CD39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9FCA2D-2B89-19B9-D3C6-B19E1DA0F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5" y="2508799"/>
            <a:ext cx="10548531" cy="409022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s" sz="2000" dirty="0">
                <a:ea typeface="+mn-lt"/>
                <a:cs typeface="+mn-lt"/>
              </a:rPr>
              <a:t>Según las indicaciones del curso, se crearon las siguientes clases para las pruebas unitarias:</a:t>
            </a:r>
          </a:p>
          <a:p>
            <a:pPr algn="just"/>
            <a:r>
              <a:rPr lang="es" sz="2000" dirty="0">
                <a:ea typeface="+mn-lt"/>
                <a:cs typeface="+mn-lt"/>
              </a:rPr>
              <a:t>.</a:t>
            </a:r>
            <a:endParaRPr lang="es" sz="2000" dirty="0"/>
          </a:p>
          <a:p>
            <a:pPr marL="285750" indent="-285750" algn="just">
              <a:buFont typeface="Arial,Sans-Serif"/>
              <a:buChar char="•"/>
            </a:pPr>
            <a:r>
              <a:rPr lang="es" sz="1800" dirty="0">
                <a:latin typeface="Times New Roman"/>
                <a:cs typeface="Times New Roman"/>
              </a:rPr>
              <a:t>ProductoDigitalTest.</a:t>
            </a:r>
            <a:endParaRPr lang="es-EC" sz="1800" dirty="0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s" sz="1800" dirty="0">
                <a:latin typeface="Times New Roman"/>
                <a:cs typeface="Times New Roman"/>
              </a:rPr>
              <a:t>UsuarioTest. </a:t>
            </a:r>
            <a:endParaRPr lang="es-EC" sz="1800" dirty="0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s" sz="1800" dirty="0">
                <a:latin typeface="Times New Roman"/>
                <a:cs typeface="Times New Roman"/>
              </a:rPr>
              <a:t>CarritoFisicoTest.</a:t>
            </a:r>
            <a:endParaRPr lang="es" sz="1600" dirty="0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s-CO" sz="1600" dirty="0">
                <a:latin typeface="Times New Roman"/>
                <a:cs typeface="Times New Roman"/>
              </a:rPr>
              <a:t>I</a:t>
            </a:r>
            <a:r>
              <a:rPr lang="es" sz="1800" dirty="0">
                <a:latin typeface="Times New Roman"/>
                <a:cs typeface="Times New Roman"/>
              </a:rPr>
              <a:t>nventarioFisicoTest.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s" sz="1800" dirty="0">
                <a:latin typeface="Times New Roman"/>
                <a:cs typeface="Times New Roman"/>
              </a:rPr>
              <a:t>ProcesoPagoTest</a:t>
            </a:r>
            <a:endParaRPr lang="es-EC" sz="1800" dirty="0">
              <a:latin typeface="Times New Roman"/>
              <a:cs typeface="Times New Roman"/>
            </a:endParaRPr>
          </a:p>
          <a:p>
            <a:pPr algn="l"/>
            <a:endParaRPr lang="es" sz="1800" dirty="0">
              <a:latin typeface="Times New Roman"/>
              <a:cs typeface="Times New Roman"/>
            </a:endParaRPr>
          </a:p>
          <a:p>
            <a:pPr algn="l"/>
            <a:r>
              <a:rPr lang="es" sz="1800" dirty="0">
                <a:ea typeface="+mn-lt"/>
                <a:cs typeface="+mn-lt"/>
              </a:rPr>
              <a:t>Por las limitaciones de tiempo en la exposición, sólo se mostrará una imagen relevante por cada tema (el total es de 91 imágenes, tal como se subieron a Github):</a:t>
            </a:r>
          </a:p>
          <a:p>
            <a:pPr algn="l"/>
            <a:endParaRPr lang="es" sz="1800" dirty="0">
              <a:latin typeface="Times New Roman"/>
              <a:cs typeface="Times New Roman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4D232E-E833-4740-1345-21F8BA209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1571" y="700963"/>
            <a:ext cx="7246123" cy="1106883"/>
          </a:xfrm>
        </p:spPr>
        <p:txBody>
          <a:bodyPr anchor="b">
            <a:normAutofit/>
          </a:bodyPr>
          <a:lstStyle/>
          <a:p>
            <a:pPr algn="l"/>
            <a:r>
              <a:rPr lang="es-EC" sz="4400" dirty="0"/>
              <a:t>Clases de pruebas unitarias</a:t>
            </a:r>
            <a:endParaRPr lang="en-US" sz="4400" dirty="0"/>
          </a:p>
          <a:p>
            <a:pPr algn="l"/>
            <a:endParaRPr lang="es-EC" sz="3200" b="1" dirty="0"/>
          </a:p>
        </p:txBody>
      </p:sp>
    </p:spTree>
    <p:extLst>
      <p:ext uri="{BB962C8B-B14F-4D97-AF65-F5344CB8AC3E}">
        <p14:creationId xmlns:p14="http://schemas.microsoft.com/office/powerpoint/2010/main" val="2589703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E84AE-2539-2AC4-6183-0B60286C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dirty="0"/>
              <a:t>Herencia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966A303-40AC-D288-2A07-4BADDA086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" y="979418"/>
            <a:ext cx="7830643" cy="2486372"/>
          </a:xfrm>
          <a:prstGeom prst="rect">
            <a:avLst/>
          </a:prstGeom>
        </p:spPr>
      </p:pic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6AACEAE7-34EC-ED32-5778-C5448B1FA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560" y="3025291"/>
            <a:ext cx="7373379" cy="3467584"/>
          </a:xfrm>
        </p:spPr>
      </p:pic>
    </p:spTree>
    <p:extLst>
      <p:ext uri="{BB962C8B-B14F-4D97-AF65-F5344CB8AC3E}">
        <p14:creationId xmlns:p14="http://schemas.microsoft.com/office/powerpoint/2010/main" val="1467858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3E70-A59A-8401-9DB0-619A4BE8C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B5FE5-50E7-9BE6-C1AD-3F54F9AC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Polimorfismo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68FA82C-1E05-38BA-569F-9BD85BF3A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20" y="2209516"/>
            <a:ext cx="5258534" cy="4067743"/>
          </a:xfrm>
          <a:prstGeom prst="rect">
            <a:avLst/>
          </a:prstGeom>
        </p:spPr>
      </p:pic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E012165F-1810-724A-A83D-D167060A9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778" y="1886513"/>
            <a:ext cx="7716327" cy="3286584"/>
          </a:xfrm>
        </p:spPr>
      </p:pic>
    </p:spTree>
    <p:extLst>
      <p:ext uri="{BB962C8B-B14F-4D97-AF65-F5344CB8AC3E}">
        <p14:creationId xmlns:p14="http://schemas.microsoft.com/office/powerpoint/2010/main" val="508372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1E177-E399-B448-D10D-A1C8447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C2421-CB9B-DE97-4B0C-05208C7B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dirty="0"/>
              <a:t>Encapsulación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CB130FE-AFC5-5FC5-85C0-6BFA9492F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12" y="942975"/>
            <a:ext cx="10086975" cy="4972050"/>
          </a:xfrm>
          <a:prstGeom prst="rect">
            <a:avLst/>
          </a:prstGeom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8F30927-B005-E50A-98BC-299CF6590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206" y="1855788"/>
            <a:ext cx="5443438" cy="4351338"/>
          </a:xfrm>
        </p:spPr>
      </p:pic>
    </p:spTree>
    <p:extLst>
      <p:ext uri="{BB962C8B-B14F-4D97-AF65-F5344CB8AC3E}">
        <p14:creationId xmlns:p14="http://schemas.microsoft.com/office/powerpoint/2010/main" val="2956895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C4CC-722E-BC13-2596-1B3DC79D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3B039-F1A5-1028-83A5-ABE0D1AA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dirty="0"/>
              <a:t>Abstracción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77A43212-CB94-AC04-1CCC-2DA881D92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719" y="1157287"/>
            <a:ext cx="4083438" cy="4351338"/>
          </a:xfr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4A450A1-DE3D-9478-996F-952D3908B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57287"/>
            <a:ext cx="546735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94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EBCDA-7B09-BEFC-DEEF-02C0F6E8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FA449-924B-5CE1-A572-C2E5F1F2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Interfaces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97CB7CF-9477-2CC2-C245-011F8683A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99" y="1027906"/>
            <a:ext cx="5543550" cy="2943225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387F67A-49A0-AD00-9959-B27D12FE9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672" y="2141537"/>
            <a:ext cx="6483729" cy="4351338"/>
          </a:xfrm>
        </p:spPr>
      </p:pic>
    </p:spTree>
    <p:extLst>
      <p:ext uri="{BB962C8B-B14F-4D97-AF65-F5344CB8AC3E}">
        <p14:creationId xmlns:p14="http://schemas.microsoft.com/office/powerpoint/2010/main" val="1910059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9E6C9-A770-164B-EABD-BAC8BF31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D8DFA-65E7-C999-7E3A-E6356A23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Patrón </a:t>
            </a:r>
            <a:r>
              <a:rPr lang="es-EC" b="1" i="1" dirty="0" err="1"/>
              <a:t>Singleton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D60F81F-94E9-8123-4056-F0355155B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816" y="1510506"/>
            <a:ext cx="4432368" cy="4351338"/>
          </a:xfrm>
        </p:spPr>
      </p:pic>
    </p:spTree>
    <p:extLst>
      <p:ext uri="{BB962C8B-B14F-4D97-AF65-F5344CB8AC3E}">
        <p14:creationId xmlns:p14="http://schemas.microsoft.com/office/powerpoint/2010/main" val="3793882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DA1A-7EE5-566D-CF50-84B1E739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47E20-3AB7-4DBC-2635-4FC415CB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Patrón Factory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FDE86CC-531C-B4EF-C097-D8EE59B9C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401094"/>
            <a:ext cx="5715000" cy="3200400"/>
          </a:xfrm>
        </p:spPr>
      </p:pic>
    </p:spTree>
    <p:extLst>
      <p:ext uri="{BB962C8B-B14F-4D97-AF65-F5344CB8AC3E}">
        <p14:creationId xmlns:p14="http://schemas.microsoft.com/office/powerpoint/2010/main" val="1423821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68AA-4389-A286-2983-9C553E744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2B3BB-6BA2-C00D-6C0E-ADDD1D9E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Patrón </a:t>
            </a:r>
            <a:r>
              <a:rPr lang="es-EC" b="1" i="1" dirty="0" err="1"/>
              <a:t>Observer</a:t>
            </a:r>
            <a:r>
              <a:rPr lang="es-EC" b="1" i="1" dirty="0"/>
              <a:t> (Observador)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7041A3A-286C-3A3A-04F2-102944D0B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787" y="1291035"/>
            <a:ext cx="4714875" cy="3419475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3B9B2D9-B085-E787-C599-6065CF947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7" y="1291035"/>
            <a:ext cx="406717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73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BD44-5C68-B435-ECCF-0C7DF2C48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D122E-0F9D-0804-AAAE-7839C43B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Patrón </a:t>
            </a:r>
            <a:r>
              <a:rPr lang="es-EC" b="1" i="1" dirty="0" err="1"/>
              <a:t>Observer</a:t>
            </a:r>
            <a:r>
              <a:rPr lang="es-EC" b="1" i="1" dirty="0"/>
              <a:t> (Observado)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20" name="Marcador de contenido 19">
            <a:extLst>
              <a:ext uri="{FF2B5EF4-FFF2-40B4-BE49-F238E27FC236}">
                <a16:creationId xmlns:a16="http://schemas.microsoft.com/office/drawing/2014/main" id="{4DD4689C-9E80-0467-05FA-E7386714E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680" y="1825625"/>
            <a:ext cx="4425089" cy="4351338"/>
          </a:xfr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F8D1A24-D508-8A4C-AC6A-C83DD3D39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5" y="1825625"/>
            <a:ext cx="397192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17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4D5D9-FD31-C550-7968-4FEAA562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A6908-2212-5EF0-8004-0CE813C7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Excepciones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0F83945-FF4D-D177-1F90-BA57E9CD6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49" y="1207274"/>
            <a:ext cx="5200650" cy="1857375"/>
          </a:xfrm>
          <a:prstGeom prst="rect">
            <a:avLst/>
          </a:prstGeom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8F03779-89C4-2906-8E4E-E68A5C986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038" y="2583507"/>
            <a:ext cx="7881936" cy="3909368"/>
          </a:xfrm>
        </p:spPr>
      </p:pic>
    </p:spTree>
    <p:extLst>
      <p:ext uri="{BB962C8B-B14F-4D97-AF65-F5344CB8AC3E}">
        <p14:creationId xmlns:p14="http://schemas.microsoft.com/office/powerpoint/2010/main" val="3474980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C915-7940-9504-143E-8F91C555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B3022-429E-D98F-7F5B-5BD25C1B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Pruebas Unitarias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04D59C5-5BF3-D7C7-F481-0ED474ACC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826" y="1690688"/>
            <a:ext cx="5895629" cy="3895725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BF99538-355C-2B10-AE32-9475B4F10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60" y="1027112"/>
            <a:ext cx="563880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5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A6D77-70FA-669D-9202-9625E489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D4091-EDD2-2465-4582-7A2B9053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Ejecución </a:t>
            </a:r>
            <a:r>
              <a:rPr lang="es-EC" b="1" i="1" dirty="0" err="1"/>
              <a:t>standalone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9B8D2D6D-A202-BFDD-F15F-9817DF01A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587" y="1262062"/>
            <a:ext cx="3409950" cy="4333875"/>
          </a:xfr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7E92587-F709-87C1-BE08-66235F38F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38262"/>
            <a:ext cx="459105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16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0A8A-8273-1B27-100F-AFDE0565F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B59B5-9C77-4A91-1136-29B86FABB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Ejecución </a:t>
            </a:r>
            <a:r>
              <a:rPr lang="es-EC" b="1" i="1" dirty="0" err="1"/>
              <a:t>standalone</a:t>
            </a:r>
            <a:br>
              <a:rPr lang="es-EC" b="1" i="1" dirty="0"/>
            </a:br>
            <a:endParaRPr lang="es-EC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00687AC3-C523-C0BE-8908-8D36A4C4F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788300"/>
            <a:ext cx="5143500" cy="3495675"/>
          </a:xfr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F2A29AD-74C9-B9B5-2419-E31B9B34A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512" y="1859737"/>
            <a:ext cx="44767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21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2BA4B-72CE-BAA6-D4D6-D327390AA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A6531-C553-2642-C40B-616A4FFC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i="1" dirty="0"/>
              <a:t>Herramientas</a:t>
            </a:r>
            <a:br>
              <a:rPr lang="es-EC" b="1" i="1" dirty="0"/>
            </a:br>
            <a:endParaRPr lang="es-EC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8FB26D-2F37-186F-41A7-4A989DE3A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Para este proyecto se utilizó:</a:t>
            </a:r>
          </a:p>
          <a:p>
            <a:pPr marL="0" indent="0">
              <a:buNone/>
            </a:pPr>
            <a:endParaRPr lang="es-CO" dirty="0"/>
          </a:p>
          <a:p>
            <a:r>
              <a:rPr lang="es-CO" dirty="0"/>
              <a:t>Visual </a:t>
            </a:r>
            <a:r>
              <a:rPr lang="es-CO" dirty="0" err="1"/>
              <a:t>Paradigm</a:t>
            </a:r>
            <a:r>
              <a:rPr lang="es-CO" dirty="0"/>
              <a:t> </a:t>
            </a:r>
            <a:r>
              <a:rPr lang="es-CO" dirty="0" err="1"/>
              <a:t>Community</a:t>
            </a:r>
            <a:r>
              <a:rPr lang="es-CO" dirty="0"/>
              <a:t> </a:t>
            </a:r>
            <a:r>
              <a:rPr lang="es-CO" dirty="0" err="1"/>
              <a:t>Edition</a:t>
            </a:r>
            <a:endParaRPr lang="es-CO" dirty="0"/>
          </a:p>
          <a:p>
            <a:r>
              <a:rPr lang="es-CO" dirty="0"/>
              <a:t>Apache NetBeans IDE 22</a:t>
            </a:r>
          </a:p>
          <a:p>
            <a:r>
              <a:rPr lang="es-CO" dirty="0" err="1"/>
              <a:t>Github</a:t>
            </a:r>
            <a:endParaRPr lang="es-CO" dirty="0"/>
          </a:p>
          <a:p>
            <a:r>
              <a:rPr lang="es-CO" dirty="0" err="1"/>
              <a:t>JUnit</a:t>
            </a:r>
            <a:r>
              <a:rPr lang="es-CO" dirty="0"/>
              <a:t> 4.13.2</a:t>
            </a:r>
          </a:p>
        </p:txBody>
      </p:sp>
    </p:spTree>
    <p:extLst>
      <p:ext uri="{BB962C8B-B14F-4D97-AF65-F5344CB8AC3E}">
        <p14:creationId xmlns:p14="http://schemas.microsoft.com/office/powerpoint/2010/main" val="3412309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728B-ACD4-DC8D-C4C8-818768DE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DB250-A076-680D-59F6-8FEE073F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EC" b="1" i="1" dirty="0"/>
            </a:br>
            <a:endParaRPr lang="es-EC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644231-0332-943E-5377-8E238C32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Gracias por su atención. Ya pueden hacer sus preguntas.</a:t>
            </a:r>
          </a:p>
        </p:txBody>
      </p:sp>
    </p:spTree>
    <p:extLst>
      <p:ext uri="{BB962C8B-B14F-4D97-AF65-F5344CB8AC3E}">
        <p14:creationId xmlns:p14="http://schemas.microsoft.com/office/powerpoint/2010/main" val="40770957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545</Words>
  <Application>Microsoft Office PowerPoint</Application>
  <PresentationFormat>Panorámica</PresentationFormat>
  <Paragraphs>69</Paragraphs>
  <Slides>26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Arial,Sans-Serif</vt:lpstr>
      <vt:lpstr>Calibri</vt:lpstr>
      <vt:lpstr>Times New Roman</vt:lpstr>
      <vt:lpstr>Tema de Office</vt:lpstr>
      <vt:lpstr>CSE6041 Introducción a la Programación Orientada a Objetos   Caso de Estudio: Diseño arquitectónico de una Plataforma e-Commerce</vt:lpstr>
      <vt:lpstr>Introducción</vt:lpstr>
      <vt:lpstr>Objetivos Específicos</vt:lpstr>
      <vt:lpstr>Alcance </vt:lpstr>
      <vt:lpstr>Diagrama de Clases </vt:lpstr>
      <vt:lpstr>Diagrama de Clases </vt:lpstr>
      <vt:lpstr>Diagrama de Clases </vt:lpstr>
      <vt:lpstr>Diagrama de Clases </vt:lpstr>
      <vt:lpstr>Diagrama de Clases </vt:lpstr>
      <vt:lpstr>Clases desarrolladas </vt:lpstr>
      <vt:lpstr>Clases de pruebas unitarias </vt:lpstr>
      <vt:lpstr>Herencia </vt:lpstr>
      <vt:lpstr>Polimorfismo </vt:lpstr>
      <vt:lpstr>Encapsulación </vt:lpstr>
      <vt:lpstr>Abstracción </vt:lpstr>
      <vt:lpstr>Interfaces </vt:lpstr>
      <vt:lpstr>Patrón Singleton </vt:lpstr>
      <vt:lpstr>Patrón Factory </vt:lpstr>
      <vt:lpstr>Patrón Observer (Observador) </vt:lpstr>
      <vt:lpstr>Patrón Observer (Observado) </vt:lpstr>
      <vt:lpstr>Excepciones </vt:lpstr>
      <vt:lpstr>Pruebas Unitarias </vt:lpstr>
      <vt:lpstr>Ejecución standalone </vt:lpstr>
      <vt:lpstr>Ejecución standalone </vt:lpstr>
      <vt:lpstr>Herramientas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AGURTO</dc:creator>
  <cp:lastModifiedBy>Rene Hincapie Mejia</cp:lastModifiedBy>
  <cp:revision>128</cp:revision>
  <dcterms:created xsi:type="dcterms:W3CDTF">2025-06-25T16:49:35Z</dcterms:created>
  <dcterms:modified xsi:type="dcterms:W3CDTF">2025-10-08T09:44:46Z</dcterms:modified>
</cp:coreProperties>
</file>